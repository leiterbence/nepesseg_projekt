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0C0C"/>
    <a:srgbClr val="BF4D5A"/>
    <a:srgbClr val="008751"/>
    <a:srgbClr val="CE1126"/>
    <a:srgbClr val="E4E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61EE34-5486-4A7C-84E2-218EC054BC8E}" v="164" dt="2026-09-17T21:32:51.5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74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14568CA-38BC-4C84-9260-2719DC727E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9A3005A-CE4E-439B-9E44-4569BB221E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6B91CBE-202E-48D1-BA5C-8343F2955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C086-7FFE-42A2-90E8-5C9F3DAD7B20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0552F03-3FDB-46E9-B680-4E55F6F56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397AE79-989B-48A0-AF78-BEBC99998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A9409-E094-45D4-B155-50C8EBE3C9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31058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936858-67EC-477B-AC71-F7C47189B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860B85D-C656-48F0-B248-36D14BF03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7E41C64-A0A0-4902-B422-39BB02DDC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C086-7FFE-42A2-90E8-5C9F3DAD7B20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DBDC498-27A3-4957-BF07-93A376E79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FE81E50-64EC-4753-966C-84B9B0EFD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A9409-E094-45D4-B155-50C8EBE3C9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4307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BA87610-DFA9-4637-A4CA-5364A9258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4BCCDE9-84C5-4F5E-85A3-3BEFEF60C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22F4CAC-C33B-46EB-BE72-3D0ED68F5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C086-7FFE-42A2-90E8-5C9F3DAD7B20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BD37F64-8308-41EE-905F-E24F4CEC8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C1664DA-39DF-414A-81D8-9E8A83A70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A9409-E094-45D4-B155-50C8EBE3C9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15092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07580FE-0C81-44EF-ADD4-59F50190B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E240B96-AECB-40C2-A496-D9952167E7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79F7F33C-005F-45B1-9050-5F1A2CBA53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53F5AC8-C5A8-4670-B516-17A9AFBCE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C086-7FFE-42A2-90E8-5C9F3DAD7B20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7F87A3E-1BED-4BE8-AE98-45BC96E40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DC67BB3-B4A4-4292-9A65-E3C304B21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A9409-E094-45D4-B155-50C8EBE3C9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23335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1E3FFD8-073F-449D-8C88-62FA85E9E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CD5A02F-174C-414F-A7AE-16A3AB8B6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C4B37B7-9D27-4FCC-9C45-1A9FAA568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107B8BA3-F875-4B3E-B825-950782AAC7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363BAFC8-8062-4E60-9863-100D264500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9177F56C-9742-4FEE-9761-0FF0A8DBB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C086-7FFE-42A2-90E8-5C9F3DAD7B20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0FEB909B-12FF-458D-9D97-0B3DFCDBB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844AFAE1-32C7-44FE-840A-ED86A88A2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A9409-E094-45D4-B155-50C8EBE3C9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36548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CB2F21D-8EF8-465D-BB89-1282CD7BC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5446ABBD-7BC1-418C-9D53-8DE2875CC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C086-7FFE-42A2-90E8-5C9F3DAD7B20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5CFC8D7D-8777-4E8F-890B-15F58976C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E3C95A30-514D-43CE-B1A3-0E3EF06AE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A9409-E094-45D4-B155-50C8EBE3C9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3371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0095FEA0-7704-4C35-9211-3E8A64B63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C086-7FFE-42A2-90E8-5C9F3DAD7B20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C40113B2-EB9D-4419-BCA0-52BDC2B9F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5F0A905F-A9F1-472B-BF9B-8DA3A4B21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A9409-E094-45D4-B155-50C8EBE3C9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15336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232B4AB-ABD7-47B0-BF31-BDB80ED64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9E75FDE-AF31-46A6-9584-83C9EBE8B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1C4C59E-7626-4687-9D53-0E8C71FD4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4D2E223-2DF2-4C20-9CE4-499819507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C086-7FFE-42A2-90E8-5C9F3DAD7B20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45127DC-7931-4D57-BB3A-CA41711F9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FDE1609-A47B-485A-B074-DD0AE9BB7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A9409-E094-45D4-B155-50C8EBE3C9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22706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786D736-4B68-4E51-91A8-38D5AC753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18149C0D-209E-4DF6-8458-26FDA5602D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6D469B9-0086-4B01-B1FA-79589E3F1F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CFF1553-2CD5-438F-A6FD-10BE0784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C086-7FFE-42A2-90E8-5C9F3DAD7B20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813E83A-8F85-4992-AF03-A07F88319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702FBBE-99DD-41FA-BFA1-4EEFCE54C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A9409-E094-45D4-B155-50C8EBE3C9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78933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34F31BD-2FEE-4300-856F-91906EEE7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35C08D3F-EF62-452A-A100-17FC79DE2E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EACCE35-544C-496E-B467-18EE74F08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C086-7FFE-42A2-90E8-5C9F3DAD7B20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637111B-7649-4D08-B3E1-511B7F280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7BEF60C-F45C-41EA-A232-1D3AD8FAE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A9409-E094-45D4-B155-50C8EBE3C9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46770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70D653D1-DF18-49E1-90C9-C06490C5E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BD33DF6-6123-44B0-985A-EF91D3C12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954F21C-4162-4A6B-A3EB-FBA8289D3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8C086-7FFE-42A2-90E8-5C9F3DAD7B20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5E2F604-C58E-48ED-8142-958CF164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EFDA58A-2240-47CE-B9E9-79C9C5E9D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A9409-E094-45D4-B155-50C8EBE3C9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35043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17F9B0BC-54E1-489D-AFBD-B988AEFAB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E6D3591-76EF-45F8-9180-8178B85E4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B87EE01-31C3-4A7B-AAA1-4C2B5C2B0D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8C086-7FFE-42A2-90E8-5C9F3DAD7B20}" type="datetimeFigureOut">
              <a:rPr lang="hu-HU" smtClean="0"/>
              <a:t>2026. 09. 17.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53E3A0E-DF0B-457A-8533-BD07921DDF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D423A27-A655-4D8B-BB95-DD04F89ED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A9409-E094-45D4-B155-50C8EBE3C96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71085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slide" Target="slide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3.png"/><Relationship Id="rId7" Type="http://schemas.openxmlformats.org/officeDocument/2006/relationships/slide" Target="slide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microsoft.com/office/2007/relationships/hdphoto" Target="../media/hdphoto2.wdp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3.png"/><Relationship Id="rId7" Type="http://schemas.openxmlformats.org/officeDocument/2006/relationships/slide" Target="slide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microsoft.com/office/2007/relationships/hdphoto" Target="../media/hdphoto2.wdp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3.png"/><Relationship Id="rId7" Type="http://schemas.openxmlformats.org/officeDocument/2006/relationships/slide" Target="slide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microsoft.com/office/2007/relationships/hdphoto" Target="../media/hdphoto2.wdp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3.png"/><Relationship Id="rId7" Type="http://schemas.openxmlformats.org/officeDocument/2006/relationships/slide" Target="slide2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microsoft.com/office/2007/relationships/hdphoto" Target="../media/hdphoto2.wdp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3.png"/><Relationship Id="rId7" Type="http://schemas.openxmlformats.org/officeDocument/2006/relationships/slide" Target="slide2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microsoft.com/office/2007/relationships/hdphoto" Target="../media/hdphoto2.wdp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3.png"/><Relationship Id="rId7" Type="http://schemas.openxmlformats.org/officeDocument/2006/relationships/slide" Target="slide2.xml"/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microsoft.com/office/2007/relationships/hdphoto" Target="../media/hdphoto2.wdp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D06534EA-406B-4188-83B8-C357BB9F5A4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8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rcRect t="21875" b="21874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DDB0E76B-659A-4EC0-A10C-BF6415F41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15486"/>
            <a:ext cx="9144000" cy="2027028"/>
          </a:xfrm>
        </p:spPr>
        <p:txBody>
          <a:bodyPr>
            <a:normAutofit fontScale="90000"/>
          </a:bodyPr>
          <a:lstStyle/>
          <a:p>
            <a:r>
              <a:rPr lang="hu-HU" dirty="0">
                <a:solidFill>
                  <a:schemeClr val="bg1"/>
                </a:solidFill>
                <a:latin typeface="Artifakt Element Heavy" panose="020B0B03050000020004" pitchFamily="34" charset="-18"/>
                <a:ea typeface="Artifakt Element Heavy" panose="020B0B03050000020004" pitchFamily="34" charset="-18"/>
              </a:rPr>
              <a:t>Magyarország népessége</a:t>
            </a:r>
            <a:br>
              <a:rPr lang="hu-HU" dirty="0">
                <a:solidFill>
                  <a:schemeClr val="bg1"/>
                </a:solidFill>
                <a:latin typeface="Artifakt Element Heavy" panose="020B0B03050000020004" pitchFamily="34" charset="-18"/>
                <a:ea typeface="Artifakt Element Heavy" panose="020B0B03050000020004" pitchFamily="34" charset="-18"/>
              </a:rPr>
            </a:br>
            <a:r>
              <a:rPr lang="hu-HU" dirty="0">
                <a:solidFill>
                  <a:schemeClr val="bg1"/>
                </a:solidFill>
                <a:latin typeface="Artifakt Element Heavy" panose="020B0B03050000020004" pitchFamily="34" charset="-18"/>
                <a:ea typeface="Artifakt Element Heavy" panose="020B0B03050000020004" pitchFamily="34" charset="-18"/>
              </a:rPr>
              <a:t>2025 népszámlálás szerint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A6BBA44-CB3F-4EB7-B3B7-2A7402D836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 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4489D8A2-C03C-4386-941D-619230A4A57A}"/>
              </a:ext>
            </a:extLst>
          </p:cNvPr>
          <p:cNvSpPr txBox="1"/>
          <p:nvPr/>
        </p:nvSpPr>
        <p:spPr>
          <a:xfrm>
            <a:off x="6350000" y="4429919"/>
            <a:ext cx="447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Készítette: </a:t>
            </a:r>
            <a:r>
              <a:rPr lang="hu-HU" dirty="0" err="1">
                <a:solidFill>
                  <a:schemeClr val="bg1"/>
                </a:solidFill>
              </a:rPr>
              <a:t>Leiter</a:t>
            </a:r>
            <a:r>
              <a:rPr lang="hu-HU" dirty="0">
                <a:solidFill>
                  <a:schemeClr val="bg1"/>
                </a:solidFill>
              </a:rPr>
              <a:t> Bence és Csiha Milán Martin</a:t>
            </a:r>
          </a:p>
        </p:txBody>
      </p:sp>
    </p:spTree>
    <p:extLst>
      <p:ext uri="{BB962C8B-B14F-4D97-AF65-F5344CB8AC3E}">
        <p14:creationId xmlns:p14="http://schemas.microsoft.com/office/powerpoint/2010/main" val="3237916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>
            <a:extLst>
              <a:ext uri="{FF2B5EF4-FFF2-40B4-BE49-F238E27FC236}">
                <a16:creationId xmlns:a16="http://schemas.microsoft.com/office/drawing/2014/main" id="{68501271-E979-456F-8198-685EFEE857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8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rcRect t="25722" b="63406"/>
          <a:stretch/>
        </p:blipFill>
        <p:spPr>
          <a:xfrm>
            <a:off x="0" y="167162"/>
            <a:ext cx="12192000" cy="1325563"/>
          </a:xfrm>
          <a:prstGeom prst="rect">
            <a:avLst/>
          </a:prstGeom>
          <a:effectLst/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F7DB48E8-2C71-46DB-A064-A642610AE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162"/>
            <a:ext cx="10515600" cy="1325563"/>
          </a:xfrm>
        </p:spPr>
        <p:txBody>
          <a:bodyPr/>
          <a:lstStyle/>
          <a:p>
            <a:pPr algn="ctr"/>
            <a:r>
              <a:rPr lang="hu-HU" dirty="0">
                <a:solidFill>
                  <a:schemeClr val="bg1"/>
                </a:solidFill>
                <a:latin typeface="Artifakt Element Heavy" panose="020B0B03050000020004" pitchFamily="34" charset="-18"/>
                <a:ea typeface="Artifakt Element Heavy" panose="020B0B03050000020004" pitchFamily="34" charset="-18"/>
              </a:rPr>
              <a:t>Népesség 2025</a:t>
            </a:r>
          </a:p>
        </p:txBody>
      </p:sp>
      <p:sp>
        <p:nvSpPr>
          <p:cNvPr id="11" name="Tartalom helye 10">
            <a:extLst>
              <a:ext uri="{FF2B5EF4-FFF2-40B4-BE49-F238E27FC236}">
                <a16:creationId xmlns:a16="http://schemas.microsoft.com/office/drawing/2014/main" id="{E00F5D2E-86C1-41DF-9AE8-584D07295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  </a:t>
            </a:r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6BA25CFA-16A4-4B10-B82B-F802A1B049D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777"/>
          <a:stretch/>
        </p:blipFill>
        <p:spPr>
          <a:xfrm>
            <a:off x="0" y="1784217"/>
            <a:ext cx="12192000" cy="5079609"/>
          </a:xfrm>
          <a:prstGeom prst="rect">
            <a:avLst/>
          </a:prstGeom>
          <a:effectLst/>
        </p:spPr>
      </p:pic>
      <p:sp>
        <p:nvSpPr>
          <p:cNvPr id="3" name="Téglalap 2">
            <a:extLst>
              <a:ext uri="{FF2B5EF4-FFF2-40B4-BE49-F238E27FC236}">
                <a16:creationId xmlns:a16="http://schemas.microsoft.com/office/drawing/2014/main" id="{BE3DD501-F090-4299-84CB-B7876C2066F7}"/>
              </a:ext>
            </a:extLst>
          </p:cNvPr>
          <p:cNvSpPr/>
          <p:nvPr/>
        </p:nvSpPr>
        <p:spPr>
          <a:xfrm>
            <a:off x="0" y="1784217"/>
            <a:ext cx="12192000" cy="1704050"/>
          </a:xfrm>
          <a:prstGeom prst="rect">
            <a:avLst/>
          </a:prstGeom>
          <a:solidFill>
            <a:srgbClr val="CE11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71B557CD-90A5-42BB-A7C5-AC63C0718636}"/>
              </a:ext>
            </a:extLst>
          </p:cNvPr>
          <p:cNvSpPr/>
          <p:nvPr/>
        </p:nvSpPr>
        <p:spPr>
          <a:xfrm>
            <a:off x="0" y="5153950"/>
            <a:ext cx="12192000" cy="1704050"/>
          </a:xfrm>
          <a:prstGeom prst="rect">
            <a:avLst/>
          </a:prstGeom>
          <a:solidFill>
            <a:srgbClr val="00875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4" name="Kép 3">
            <a:hlinkClick r:id="rId5" action="ppaction://hlinksldjump"/>
            <a:extLst>
              <a:ext uri="{FF2B5EF4-FFF2-40B4-BE49-F238E27FC236}">
                <a16:creationId xmlns:a16="http://schemas.microsoft.com/office/drawing/2014/main" id="{F346FA17-CF6A-4988-B6B6-0DE4ABBFED1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 amt="48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32557" b="36669"/>
          <a:stretch/>
        </p:blipFill>
        <p:spPr>
          <a:xfrm>
            <a:off x="0" y="1778391"/>
            <a:ext cx="12192000" cy="1681037"/>
          </a:xfrm>
          <a:prstGeom prst="rect">
            <a:avLst/>
          </a:prstGeom>
        </p:spPr>
      </p:pic>
      <p:pic>
        <p:nvPicPr>
          <p:cNvPr id="14" name="Kép 13">
            <a:hlinkClick r:id="rId8" action="ppaction://hlinksldjump"/>
            <a:extLst>
              <a:ext uri="{FF2B5EF4-FFF2-40B4-BE49-F238E27FC236}">
                <a16:creationId xmlns:a16="http://schemas.microsoft.com/office/drawing/2014/main" id="{6A337864-33A7-4C1B-AB55-CF68BBB9A5F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 amt="48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32557" b="36669"/>
          <a:stretch/>
        </p:blipFill>
        <p:spPr>
          <a:xfrm flipH="1">
            <a:off x="0" y="5189530"/>
            <a:ext cx="12192000" cy="1681038"/>
          </a:xfrm>
          <a:prstGeom prst="rect">
            <a:avLst/>
          </a:prstGeom>
        </p:spPr>
      </p:pic>
      <p:sp>
        <p:nvSpPr>
          <p:cNvPr id="5" name="Szövegdoboz 4">
            <a:hlinkClick r:id="rId5" action="ppaction://hlinksldjump"/>
            <a:extLst>
              <a:ext uri="{FF2B5EF4-FFF2-40B4-BE49-F238E27FC236}">
                <a16:creationId xmlns:a16="http://schemas.microsoft.com/office/drawing/2014/main" id="{939A8E02-C657-4B34-8C45-D0DF77910530}"/>
              </a:ext>
            </a:extLst>
          </p:cNvPr>
          <p:cNvSpPr txBox="1"/>
          <p:nvPr/>
        </p:nvSpPr>
        <p:spPr>
          <a:xfrm>
            <a:off x="838200" y="2192229"/>
            <a:ext cx="47019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hu-HU" sz="4800" b="1" dirty="0">
                <a:solidFill>
                  <a:schemeClr val="bg1"/>
                </a:solidFill>
                <a:latin typeface="Arial Black" panose="020B0A04020102020204" pitchFamily="34" charset="0"/>
                <a:ea typeface="Adobe Gothic Std B" panose="020B0800000000000000" pitchFamily="34" charset="-128"/>
              </a:rPr>
              <a:t>Megye adatai</a:t>
            </a:r>
          </a:p>
        </p:txBody>
      </p:sp>
      <p:sp>
        <p:nvSpPr>
          <p:cNvPr id="15" name="Szövegdoboz 14">
            <a:hlinkClick r:id="rId8" action="ppaction://hlinksldjump"/>
            <a:extLst>
              <a:ext uri="{FF2B5EF4-FFF2-40B4-BE49-F238E27FC236}">
                <a16:creationId xmlns:a16="http://schemas.microsoft.com/office/drawing/2014/main" id="{EE453288-E7B5-4857-AB99-8BFC2A59E698}"/>
              </a:ext>
            </a:extLst>
          </p:cNvPr>
          <p:cNvSpPr txBox="1"/>
          <p:nvPr/>
        </p:nvSpPr>
        <p:spPr>
          <a:xfrm>
            <a:off x="5427306" y="5590476"/>
            <a:ext cx="59264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4800" b="1" dirty="0">
                <a:solidFill>
                  <a:schemeClr val="bg1"/>
                </a:solidFill>
                <a:latin typeface="Arial Black" panose="020B0A04020102020204" pitchFamily="34" charset="0"/>
                <a:ea typeface="Adobe Gothic Std B" panose="020B0800000000000000" pitchFamily="34" charset="-128"/>
              </a:rPr>
              <a:t>Település típusai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5E1ADB7A-52D2-4EC9-AEC3-5E6574E23FD1}"/>
              </a:ext>
            </a:extLst>
          </p:cNvPr>
          <p:cNvSpPr/>
          <p:nvPr/>
        </p:nvSpPr>
        <p:spPr>
          <a:xfrm>
            <a:off x="0" y="3459428"/>
            <a:ext cx="12192000" cy="1704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77887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églalap 8">
            <a:extLst>
              <a:ext uri="{FF2B5EF4-FFF2-40B4-BE49-F238E27FC236}">
                <a16:creationId xmlns:a16="http://schemas.microsoft.com/office/drawing/2014/main" id="{AE91EB03-DC34-44B9-978C-166D797384F9}"/>
              </a:ext>
            </a:extLst>
          </p:cNvPr>
          <p:cNvSpPr/>
          <p:nvPr/>
        </p:nvSpPr>
        <p:spPr>
          <a:xfrm>
            <a:off x="0" y="268827"/>
            <a:ext cx="12192000" cy="1740128"/>
          </a:xfrm>
          <a:prstGeom prst="rect">
            <a:avLst/>
          </a:prstGeom>
          <a:solidFill>
            <a:srgbClr val="CE11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" name="Kép 9">
            <a:hlinkClick r:id="rId2" action="ppaction://hlinksldjump"/>
            <a:extLst>
              <a:ext uri="{FF2B5EF4-FFF2-40B4-BE49-F238E27FC236}">
                <a16:creationId xmlns:a16="http://schemas.microsoft.com/office/drawing/2014/main" id="{156250FC-70B4-4440-90C3-BDB7CF22BC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8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32557" b="36669"/>
          <a:stretch/>
        </p:blipFill>
        <p:spPr>
          <a:xfrm>
            <a:off x="0" y="263000"/>
            <a:ext cx="12192000" cy="1745955"/>
          </a:xfrm>
          <a:prstGeom prst="rect">
            <a:avLst/>
          </a:prstGeom>
        </p:spPr>
      </p:pic>
      <p:sp>
        <p:nvSpPr>
          <p:cNvPr id="11" name="Szövegdoboz 10">
            <a:hlinkClick r:id="rId2" action="ppaction://hlinksldjump"/>
            <a:extLst>
              <a:ext uri="{FF2B5EF4-FFF2-40B4-BE49-F238E27FC236}">
                <a16:creationId xmlns:a16="http://schemas.microsoft.com/office/drawing/2014/main" id="{828019F3-8CC8-4F0B-820A-41FFE228E4E2}"/>
              </a:ext>
            </a:extLst>
          </p:cNvPr>
          <p:cNvSpPr txBox="1"/>
          <p:nvPr/>
        </p:nvSpPr>
        <p:spPr>
          <a:xfrm>
            <a:off x="838200" y="676839"/>
            <a:ext cx="47019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hu-HU" sz="4800" b="1" dirty="0">
                <a:solidFill>
                  <a:schemeClr val="bg1"/>
                </a:solidFill>
                <a:latin typeface="Arial Black" panose="020B0A04020102020204" pitchFamily="34" charset="0"/>
                <a:ea typeface="Adobe Gothic Std B" panose="020B0800000000000000" pitchFamily="34" charset="-128"/>
              </a:rPr>
              <a:t>Megye adatai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0EF2732-2E03-4198-BA62-A1C420A7D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 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6B17A8A9-BC5C-4688-AFAB-4BCB38AEC1C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 amt="88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rcRect l="90425" t="27345" r="2500" b="65956"/>
          <a:stretch/>
        </p:blipFill>
        <p:spPr>
          <a:xfrm>
            <a:off x="10465279" y="725692"/>
            <a:ext cx="862642" cy="816694"/>
          </a:xfrm>
          <a:prstGeom prst="rect">
            <a:avLst/>
          </a:prstGeom>
          <a:effectLst/>
        </p:spPr>
      </p:pic>
      <p:pic>
        <p:nvPicPr>
          <p:cNvPr id="7" name="Tartalom helye 6" descr="Otthon egyszínű kitöltéssel">
            <a:hlinkClick r:id="rId7" action="ppaction://hlinksldjump"/>
            <a:extLst>
              <a:ext uri="{FF2B5EF4-FFF2-40B4-BE49-F238E27FC236}">
                <a16:creationId xmlns:a16="http://schemas.microsoft.com/office/drawing/2014/main" id="{1B3F7A58-2549-4133-8E7A-825A053D7A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39400" y="676839"/>
            <a:ext cx="914400" cy="914400"/>
          </a:xfr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05BD2DA7-FF75-45D5-846E-CC6D4BC993FE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40244"/>
          <a:stretch/>
        </p:blipFill>
        <p:spPr>
          <a:xfrm>
            <a:off x="5152519" y="2422444"/>
            <a:ext cx="6313014" cy="3543795"/>
          </a:xfrm>
          <a:prstGeom prst="rect">
            <a:avLst/>
          </a:prstGeom>
          <a:effectLst>
            <a:softEdge rad="25400"/>
          </a:effectLst>
        </p:spPr>
      </p:pic>
      <p:sp>
        <p:nvSpPr>
          <p:cNvPr id="23" name="Szövegdoboz 22">
            <a:extLst>
              <a:ext uri="{FF2B5EF4-FFF2-40B4-BE49-F238E27FC236}">
                <a16:creationId xmlns:a16="http://schemas.microsoft.com/office/drawing/2014/main" id="{CC19EEB6-9973-4BA4-BBFD-43F52BEDCC1B}"/>
              </a:ext>
            </a:extLst>
          </p:cNvPr>
          <p:cNvSpPr txBox="1"/>
          <p:nvPr/>
        </p:nvSpPr>
        <p:spPr>
          <a:xfrm>
            <a:off x="476251" y="2486181"/>
            <a:ext cx="433850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/>
              <a:t>A kód bekéri egy megye kódját, melynek megadása után, kiírja a települések számát, az összes lakost, valamint a városok lakosait összesen.</a:t>
            </a:r>
            <a:br>
              <a:rPr lang="hu-HU" sz="2400" dirty="0"/>
            </a:br>
            <a:endParaRPr lang="hu-HU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/>
              <a:t>Az aktuális képen Budapest megyekódja alapján írja ki az adatokat.</a:t>
            </a:r>
          </a:p>
        </p:txBody>
      </p:sp>
    </p:spTree>
    <p:extLst>
      <p:ext uri="{BB962C8B-B14F-4D97-AF65-F5344CB8AC3E}">
        <p14:creationId xmlns:p14="http://schemas.microsoft.com/office/powerpoint/2010/main" val="17141382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églalap 8">
            <a:extLst>
              <a:ext uri="{FF2B5EF4-FFF2-40B4-BE49-F238E27FC236}">
                <a16:creationId xmlns:a16="http://schemas.microsoft.com/office/drawing/2014/main" id="{AE91EB03-DC34-44B9-978C-166D797384F9}"/>
              </a:ext>
            </a:extLst>
          </p:cNvPr>
          <p:cNvSpPr/>
          <p:nvPr/>
        </p:nvSpPr>
        <p:spPr>
          <a:xfrm>
            <a:off x="0" y="268827"/>
            <a:ext cx="12192000" cy="1740128"/>
          </a:xfrm>
          <a:prstGeom prst="rect">
            <a:avLst/>
          </a:prstGeom>
          <a:solidFill>
            <a:srgbClr val="CE11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" name="Kép 9">
            <a:hlinkClick r:id="rId2" action="ppaction://hlinksldjump"/>
            <a:extLst>
              <a:ext uri="{FF2B5EF4-FFF2-40B4-BE49-F238E27FC236}">
                <a16:creationId xmlns:a16="http://schemas.microsoft.com/office/drawing/2014/main" id="{156250FC-70B4-4440-90C3-BDB7CF22BC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8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32557" b="36669"/>
          <a:stretch/>
        </p:blipFill>
        <p:spPr>
          <a:xfrm>
            <a:off x="0" y="263000"/>
            <a:ext cx="12192000" cy="1745955"/>
          </a:xfrm>
          <a:prstGeom prst="rect">
            <a:avLst/>
          </a:prstGeom>
        </p:spPr>
      </p:pic>
      <p:sp>
        <p:nvSpPr>
          <p:cNvPr id="11" name="Szövegdoboz 10">
            <a:hlinkClick r:id="rId2" action="ppaction://hlinksldjump"/>
            <a:extLst>
              <a:ext uri="{FF2B5EF4-FFF2-40B4-BE49-F238E27FC236}">
                <a16:creationId xmlns:a16="http://schemas.microsoft.com/office/drawing/2014/main" id="{828019F3-8CC8-4F0B-820A-41FFE228E4E2}"/>
              </a:ext>
            </a:extLst>
          </p:cNvPr>
          <p:cNvSpPr txBox="1"/>
          <p:nvPr/>
        </p:nvSpPr>
        <p:spPr>
          <a:xfrm>
            <a:off x="838200" y="676839"/>
            <a:ext cx="47019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hu-HU" sz="4800" b="1" dirty="0">
                <a:solidFill>
                  <a:schemeClr val="bg1"/>
                </a:solidFill>
                <a:latin typeface="Arial Black" panose="020B0A04020102020204" pitchFamily="34" charset="0"/>
                <a:ea typeface="Adobe Gothic Std B" panose="020B0800000000000000" pitchFamily="34" charset="-128"/>
              </a:rPr>
              <a:t>Megye adatai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0EF2732-2E03-4198-BA62-A1C420A7D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 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6B17A8A9-BC5C-4688-AFAB-4BCB38AEC1C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 amt="88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rcRect l="90425" t="27345" r="2500" b="65956"/>
          <a:stretch/>
        </p:blipFill>
        <p:spPr>
          <a:xfrm>
            <a:off x="10465279" y="725692"/>
            <a:ext cx="862642" cy="816694"/>
          </a:xfrm>
          <a:prstGeom prst="rect">
            <a:avLst/>
          </a:prstGeom>
          <a:effectLst/>
        </p:spPr>
      </p:pic>
      <p:pic>
        <p:nvPicPr>
          <p:cNvPr id="7" name="Tartalom helye 6" descr="Otthon egyszínű kitöltéssel">
            <a:hlinkClick r:id="rId7" action="ppaction://hlinksldjump"/>
            <a:extLst>
              <a:ext uri="{FF2B5EF4-FFF2-40B4-BE49-F238E27FC236}">
                <a16:creationId xmlns:a16="http://schemas.microsoft.com/office/drawing/2014/main" id="{1B3F7A58-2549-4133-8E7A-825A053D7A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39400" y="676839"/>
            <a:ext cx="914400" cy="914400"/>
          </a:xfrm>
        </p:spPr>
      </p:pic>
      <p:sp>
        <p:nvSpPr>
          <p:cNvPr id="23" name="Szövegdoboz 22">
            <a:extLst>
              <a:ext uri="{FF2B5EF4-FFF2-40B4-BE49-F238E27FC236}">
                <a16:creationId xmlns:a16="http://schemas.microsoft.com/office/drawing/2014/main" id="{CC19EEB6-9973-4BA4-BBFD-43F52BEDCC1B}"/>
              </a:ext>
            </a:extLst>
          </p:cNvPr>
          <p:cNvSpPr txBox="1"/>
          <p:nvPr/>
        </p:nvSpPr>
        <p:spPr>
          <a:xfrm>
            <a:off x="210852" y="2157220"/>
            <a:ext cx="4338502" cy="45243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>
                <a:ea typeface="+mn-lt"/>
                <a:cs typeface="+mn-lt"/>
              </a:rPr>
              <a:t>A kódrészlet bekéri a felhasználótól a vizsgálandó megye kódját. Ha a megadott kód létezik az adatbázisban, meghívja a </a:t>
            </a:r>
            <a:r>
              <a:rPr lang="hu-HU" sz="2400" dirty="0" err="1">
                <a:highlight>
                  <a:srgbClr val="C0C0C0"/>
                </a:highlight>
                <a:latin typeface="Consolas"/>
              </a:rPr>
              <a:t>megyetelepulesek</a:t>
            </a:r>
            <a:r>
              <a:rPr lang="hu-HU" sz="2400" dirty="0">
                <a:highlight>
                  <a:srgbClr val="C0C0C0"/>
                </a:highlight>
                <a:latin typeface="Consolas"/>
              </a:rPr>
              <a:t>()</a:t>
            </a:r>
            <a:r>
              <a:rPr lang="hu-HU" sz="2400" dirty="0">
                <a:ea typeface="+mn-lt"/>
                <a:cs typeface="+mn-lt"/>
              </a:rPr>
              <a:t> függvényt a számítások elvégzésére, majd kiírja a kapott eredményeket: a települések számát, az összes lakost, valamint a városokban élők számát. </a:t>
            </a:r>
            <a:endParaRPr lang="hu-HU" sz="2400" dirty="0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00A8A172-D019-FFAE-A376-98C7F349AF6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48" t="687" r="-491" b="-1375"/>
          <a:stretch>
            <a:fillRect/>
          </a:stretch>
        </p:blipFill>
        <p:spPr>
          <a:xfrm>
            <a:off x="5046206" y="3058624"/>
            <a:ext cx="6308107" cy="2723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7898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18349-E71E-E76B-51B9-86DE8402D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églalap 8">
            <a:extLst>
              <a:ext uri="{FF2B5EF4-FFF2-40B4-BE49-F238E27FC236}">
                <a16:creationId xmlns:a16="http://schemas.microsoft.com/office/drawing/2014/main" id="{8196F50A-EC19-254E-78C7-AC48A213660C}"/>
              </a:ext>
            </a:extLst>
          </p:cNvPr>
          <p:cNvSpPr/>
          <p:nvPr/>
        </p:nvSpPr>
        <p:spPr>
          <a:xfrm>
            <a:off x="0" y="268827"/>
            <a:ext cx="12192000" cy="1740128"/>
          </a:xfrm>
          <a:prstGeom prst="rect">
            <a:avLst/>
          </a:prstGeom>
          <a:solidFill>
            <a:srgbClr val="CE11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10" name="Kép 9">
            <a:hlinkClick r:id="rId2" action="ppaction://hlinksldjump"/>
            <a:extLst>
              <a:ext uri="{FF2B5EF4-FFF2-40B4-BE49-F238E27FC236}">
                <a16:creationId xmlns:a16="http://schemas.microsoft.com/office/drawing/2014/main" id="{B367BC35-2A90-81FC-3093-2CDF47594E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8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32557" b="36669"/>
          <a:stretch/>
        </p:blipFill>
        <p:spPr>
          <a:xfrm>
            <a:off x="0" y="263000"/>
            <a:ext cx="12192000" cy="1745955"/>
          </a:xfrm>
          <a:prstGeom prst="rect">
            <a:avLst/>
          </a:prstGeom>
        </p:spPr>
      </p:pic>
      <p:sp>
        <p:nvSpPr>
          <p:cNvPr id="11" name="Szövegdoboz 10">
            <a:hlinkClick r:id="rId2" action="ppaction://hlinksldjump"/>
            <a:extLst>
              <a:ext uri="{FF2B5EF4-FFF2-40B4-BE49-F238E27FC236}">
                <a16:creationId xmlns:a16="http://schemas.microsoft.com/office/drawing/2014/main" id="{F1F50189-9C34-A450-8C7B-217EE0171E56}"/>
              </a:ext>
            </a:extLst>
          </p:cNvPr>
          <p:cNvSpPr txBox="1"/>
          <p:nvPr/>
        </p:nvSpPr>
        <p:spPr>
          <a:xfrm>
            <a:off x="838200" y="676839"/>
            <a:ext cx="47019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hu-HU" sz="4800" b="1" dirty="0">
                <a:solidFill>
                  <a:schemeClr val="bg1"/>
                </a:solidFill>
                <a:latin typeface="Arial Black" panose="020B0A04020102020204" pitchFamily="34" charset="0"/>
                <a:ea typeface="Adobe Gothic Std B" panose="020B0800000000000000" pitchFamily="34" charset="-128"/>
              </a:rPr>
              <a:t>Megye adatai</a:t>
            </a: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EAD248A-4341-99A3-06DC-8A7C134C8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 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32EACC5-1789-64CB-FA81-B6BC810C344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 amt="88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rcRect l="90425" t="27345" r="2500" b="65956"/>
          <a:stretch/>
        </p:blipFill>
        <p:spPr>
          <a:xfrm>
            <a:off x="10465279" y="725692"/>
            <a:ext cx="862642" cy="816694"/>
          </a:xfrm>
          <a:prstGeom prst="rect">
            <a:avLst/>
          </a:prstGeom>
          <a:effectLst/>
        </p:spPr>
      </p:pic>
      <p:pic>
        <p:nvPicPr>
          <p:cNvPr id="7" name="Tartalom helye 6" descr="Otthon egyszínű kitöltéssel">
            <a:hlinkClick r:id="rId7" action="ppaction://hlinksldjump"/>
            <a:extLst>
              <a:ext uri="{FF2B5EF4-FFF2-40B4-BE49-F238E27FC236}">
                <a16:creationId xmlns:a16="http://schemas.microsoft.com/office/drawing/2014/main" id="{9D8D18BC-EF33-1FA2-3642-9651645CCD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39400" y="676839"/>
            <a:ext cx="914400" cy="914400"/>
          </a:xfrm>
        </p:spPr>
      </p:pic>
      <p:sp>
        <p:nvSpPr>
          <p:cNvPr id="23" name="Szövegdoboz 22">
            <a:extLst>
              <a:ext uri="{FF2B5EF4-FFF2-40B4-BE49-F238E27FC236}">
                <a16:creationId xmlns:a16="http://schemas.microsoft.com/office/drawing/2014/main" id="{4C98FFD9-8B91-01DE-4252-A2A59F687235}"/>
              </a:ext>
            </a:extLst>
          </p:cNvPr>
          <p:cNvSpPr txBox="1"/>
          <p:nvPr/>
        </p:nvSpPr>
        <p:spPr>
          <a:xfrm>
            <a:off x="251492" y="2390900"/>
            <a:ext cx="4338502" cy="37856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2400" dirty="0">
                <a:ea typeface="+mn-lt"/>
                <a:cs typeface="+mn-lt"/>
              </a:rPr>
              <a:t>Ez a függvény végzi el a számolást: megkeresi a megadott megyéhez tartozó településeket, és összeadja a lakók számát. Megszámolja, hány település van a megyében, hányan laknak ott összesen, és ebből külön kiszámolja a városokban élők számát is.</a:t>
            </a:r>
            <a:endParaRPr lang="hu-HU" sz="2400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7E4C2932-F459-B6F2-6BBD-9310450641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7617" y="3050222"/>
            <a:ext cx="6263005" cy="2474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5163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églalap 5">
            <a:extLst>
              <a:ext uri="{FF2B5EF4-FFF2-40B4-BE49-F238E27FC236}">
                <a16:creationId xmlns:a16="http://schemas.microsoft.com/office/drawing/2014/main" id="{D2FE4F05-711E-4D1A-AF06-0EA963B0BABC}"/>
              </a:ext>
            </a:extLst>
          </p:cNvPr>
          <p:cNvSpPr/>
          <p:nvPr/>
        </p:nvSpPr>
        <p:spPr>
          <a:xfrm>
            <a:off x="0" y="229525"/>
            <a:ext cx="12192000" cy="1704050"/>
          </a:xfrm>
          <a:prstGeom prst="rect">
            <a:avLst/>
          </a:prstGeom>
          <a:solidFill>
            <a:srgbClr val="00875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7" name="Kép 6">
            <a:hlinkClick r:id="rId2" action="ppaction://hlinksldjump"/>
            <a:extLst>
              <a:ext uri="{FF2B5EF4-FFF2-40B4-BE49-F238E27FC236}">
                <a16:creationId xmlns:a16="http://schemas.microsoft.com/office/drawing/2014/main" id="{8EB92D34-AA36-4E83-8CDD-FACA94C1AE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8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32557" b="36669"/>
          <a:stretch/>
        </p:blipFill>
        <p:spPr>
          <a:xfrm flipH="1">
            <a:off x="0" y="229525"/>
            <a:ext cx="12192000" cy="1716618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011DD44F-57E4-4B35-AADC-4A9245B2C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9C4C797-AE59-46E1-9F4E-6A451E5B2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3575" y="2876155"/>
            <a:ext cx="5895975" cy="29457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dirty="0">
                <a:ea typeface="+mn-lt"/>
                <a:cs typeface="+mn-lt"/>
              </a:rPr>
              <a:t>A program bekéri a kívánt településtípust (város vagy község), szűri az adatbázist, majd az eredményeket 20 elemes oldalakra bontott, lapozható listában jeleníti meg a települések nevével és teljes népességével együtt.</a:t>
            </a:r>
            <a:endParaRPr lang="hu-HU" dirty="0">
              <a:ea typeface="Calibri"/>
              <a:cs typeface="Calibri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7EA7A96E-5568-4D3C-B59B-DB2716197F9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 amt="88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rcRect l="90425" t="27345" r="2500" b="65956"/>
          <a:stretch/>
        </p:blipFill>
        <p:spPr>
          <a:xfrm>
            <a:off x="10610098" y="617112"/>
            <a:ext cx="862642" cy="816694"/>
          </a:xfrm>
          <a:prstGeom prst="rect">
            <a:avLst/>
          </a:prstGeom>
          <a:effectLst/>
        </p:spPr>
      </p:pic>
      <p:pic>
        <p:nvPicPr>
          <p:cNvPr id="5" name="Tartalom helye 6" descr="Otthon egyszínű kitöltéssel">
            <a:hlinkClick r:id="rId7" action="ppaction://hlinksldjump"/>
            <a:extLst>
              <a:ext uri="{FF2B5EF4-FFF2-40B4-BE49-F238E27FC236}">
                <a16:creationId xmlns:a16="http://schemas.microsoft.com/office/drawing/2014/main" id="{3D50316C-0C11-44F4-82E3-EB2F080D4D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84219" y="568259"/>
            <a:ext cx="914400" cy="914400"/>
          </a:xfrm>
          <a:prstGeom prst="rect">
            <a:avLst/>
          </a:prstGeom>
        </p:spPr>
      </p:pic>
      <p:sp>
        <p:nvSpPr>
          <p:cNvPr id="8" name="Szövegdoboz 7">
            <a:hlinkClick r:id="rId2" action="ppaction://hlinksldjump"/>
            <a:extLst>
              <a:ext uri="{FF2B5EF4-FFF2-40B4-BE49-F238E27FC236}">
                <a16:creationId xmlns:a16="http://schemas.microsoft.com/office/drawing/2014/main" id="{D8AF7CE0-7C80-416F-B8C0-E8EC6FC973CB}"/>
              </a:ext>
            </a:extLst>
          </p:cNvPr>
          <p:cNvSpPr txBox="1"/>
          <p:nvPr/>
        </p:nvSpPr>
        <p:spPr>
          <a:xfrm>
            <a:off x="693381" y="612407"/>
            <a:ext cx="59264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4800" b="1" dirty="0">
                <a:solidFill>
                  <a:schemeClr val="bg1"/>
                </a:solidFill>
                <a:latin typeface="Arial Black" panose="020B0A04020102020204" pitchFamily="34" charset="0"/>
                <a:ea typeface="Adobe Gothic Std B" panose="020B0800000000000000" pitchFamily="34" charset="-128"/>
              </a:rPr>
              <a:t>Település típusai</a:t>
            </a: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B2B2FA87-8B80-44D5-A56E-C9A7D2A671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381" y="2452484"/>
            <a:ext cx="4620075" cy="379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1695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AC558-1AEE-2CD6-1ADD-AC21A1CDE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églalap 5">
            <a:extLst>
              <a:ext uri="{FF2B5EF4-FFF2-40B4-BE49-F238E27FC236}">
                <a16:creationId xmlns:a16="http://schemas.microsoft.com/office/drawing/2014/main" id="{35D8ABBF-B2EB-84F6-E092-31B0689CCD61}"/>
              </a:ext>
            </a:extLst>
          </p:cNvPr>
          <p:cNvSpPr/>
          <p:nvPr/>
        </p:nvSpPr>
        <p:spPr>
          <a:xfrm>
            <a:off x="0" y="229525"/>
            <a:ext cx="12192000" cy="1704050"/>
          </a:xfrm>
          <a:prstGeom prst="rect">
            <a:avLst/>
          </a:prstGeom>
          <a:solidFill>
            <a:srgbClr val="00875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7" name="Kép 6">
            <a:hlinkClick r:id="rId2" action="ppaction://hlinksldjump"/>
            <a:extLst>
              <a:ext uri="{FF2B5EF4-FFF2-40B4-BE49-F238E27FC236}">
                <a16:creationId xmlns:a16="http://schemas.microsoft.com/office/drawing/2014/main" id="{18157D23-BC71-9952-2E87-7FC286554DB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8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32557" b="36669"/>
          <a:stretch/>
        </p:blipFill>
        <p:spPr>
          <a:xfrm flipH="1">
            <a:off x="0" y="229525"/>
            <a:ext cx="12192000" cy="1716618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C6BBC5B1-B015-0B3A-471A-57934F8F0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99C3840-27D1-2569-8C23-CF8253FF4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0055" y="2601835"/>
            <a:ext cx="5286375" cy="322008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dirty="0">
                <a:ea typeface="+mn-lt"/>
                <a:cs typeface="+mn-lt"/>
              </a:rPr>
              <a:t>Ez a függvény a felhasználó választása alapján szűri ki a településeket. Ha a felhasználó a községeket választja (</a:t>
            </a:r>
            <a:r>
              <a:rPr lang="hu-HU" dirty="0">
                <a:latin typeface="Consolas"/>
                <a:ea typeface="Calibri"/>
                <a:cs typeface="Calibri"/>
              </a:rPr>
              <a:t>"a"</a:t>
            </a:r>
            <a:r>
              <a:rPr lang="hu-HU" dirty="0">
                <a:ea typeface="+mn-lt"/>
                <a:cs typeface="+mn-lt"/>
              </a:rPr>
              <a:t>), a kód végigmegy az összes településen, kiválogatja a községeket és nagyközségeket, majd egy külön listában adja vissza őket.</a:t>
            </a:r>
            <a:endParaRPr lang="hu-HU" dirty="0">
              <a:ea typeface="Calibri"/>
              <a:cs typeface="Calibri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DB8BB178-EB08-3780-8B20-22718E011BF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 amt="88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rcRect l="90425" t="27345" r="2500" b="65956"/>
          <a:stretch/>
        </p:blipFill>
        <p:spPr>
          <a:xfrm>
            <a:off x="10610098" y="617112"/>
            <a:ext cx="862642" cy="816694"/>
          </a:xfrm>
          <a:prstGeom prst="rect">
            <a:avLst/>
          </a:prstGeom>
          <a:effectLst/>
        </p:spPr>
      </p:pic>
      <p:pic>
        <p:nvPicPr>
          <p:cNvPr id="5" name="Tartalom helye 6" descr="Otthon egyszínű kitöltéssel">
            <a:hlinkClick r:id="rId7" action="ppaction://hlinksldjump"/>
            <a:extLst>
              <a:ext uri="{FF2B5EF4-FFF2-40B4-BE49-F238E27FC236}">
                <a16:creationId xmlns:a16="http://schemas.microsoft.com/office/drawing/2014/main" id="{BAEC32B8-6A7E-13D3-5376-696C3450C3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84219" y="568259"/>
            <a:ext cx="914400" cy="914400"/>
          </a:xfrm>
          <a:prstGeom prst="rect">
            <a:avLst/>
          </a:prstGeom>
        </p:spPr>
      </p:pic>
      <p:sp>
        <p:nvSpPr>
          <p:cNvPr id="8" name="Szövegdoboz 7">
            <a:hlinkClick r:id="rId2" action="ppaction://hlinksldjump"/>
            <a:extLst>
              <a:ext uri="{FF2B5EF4-FFF2-40B4-BE49-F238E27FC236}">
                <a16:creationId xmlns:a16="http://schemas.microsoft.com/office/drawing/2014/main" id="{67032E7B-BA52-C855-DE9A-D77C8266A48C}"/>
              </a:ext>
            </a:extLst>
          </p:cNvPr>
          <p:cNvSpPr txBox="1"/>
          <p:nvPr/>
        </p:nvSpPr>
        <p:spPr>
          <a:xfrm>
            <a:off x="693381" y="612407"/>
            <a:ext cx="59264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4800" b="1" dirty="0">
                <a:solidFill>
                  <a:schemeClr val="bg1"/>
                </a:solidFill>
                <a:latin typeface="Arial Black" panose="020B0A04020102020204" pitchFamily="34" charset="0"/>
                <a:ea typeface="Adobe Gothic Std B" panose="020B0800000000000000" pitchFamily="34" charset="-128"/>
              </a:rPr>
              <a:t>Település típusai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37B30E9A-189D-5BD4-7D25-E92CB027612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810" y="3291840"/>
            <a:ext cx="6555740" cy="183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2021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C5126-E4FA-AB1E-D78E-EC83B3148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églalap 5">
            <a:extLst>
              <a:ext uri="{FF2B5EF4-FFF2-40B4-BE49-F238E27FC236}">
                <a16:creationId xmlns:a16="http://schemas.microsoft.com/office/drawing/2014/main" id="{40638F41-AD50-5EAC-0554-D1B76EB54A40}"/>
              </a:ext>
            </a:extLst>
          </p:cNvPr>
          <p:cNvSpPr/>
          <p:nvPr/>
        </p:nvSpPr>
        <p:spPr>
          <a:xfrm>
            <a:off x="0" y="229525"/>
            <a:ext cx="12192000" cy="1704050"/>
          </a:xfrm>
          <a:prstGeom prst="rect">
            <a:avLst/>
          </a:prstGeom>
          <a:solidFill>
            <a:srgbClr val="00875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7" name="Kép 6">
            <a:hlinkClick r:id="rId2" action="ppaction://hlinksldjump"/>
            <a:extLst>
              <a:ext uri="{FF2B5EF4-FFF2-40B4-BE49-F238E27FC236}">
                <a16:creationId xmlns:a16="http://schemas.microsoft.com/office/drawing/2014/main" id="{7021CDB5-B9DF-202B-3651-36EA3C6C6E8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8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32557" b="36669"/>
          <a:stretch/>
        </p:blipFill>
        <p:spPr>
          <a:xfrm flipH="1">
            <a:off x="0" y="229525"/>
            <a:ext cx="12192000" cy="1716618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093A8074-5C23-33CE-B94E-47C84BBE6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B386999-5F4A-DFC1-593E-6C5D9CCF6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7495" y="2368155"/>
            <a:ext cx="5286375" cy="368744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dirty="0">
                <a:ea typeface="+mn-lt"/>
                <a:cs typeface="+mn-lt"/>
              </a:rPr>
              <a:t>Ez a kódrészlet felel a lista lapozásáért és megjelenítéséért. Kiszámolja, hány 20 elemes oldalra van szükség, majd kimetszi a kiválasztott településekből az éppen aktuális oldalra eső 20 darabot, és szépen megformázva kiírja azok nevét és népességét.</a:t>
            </a:r>
            <a:endParaRPr lang="hu-HU" dirty="0">
              <a:ea typeface="Calibri"/>
              <a:cs typeface="Calibri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941CC7F9-3D85-4965-3DDA-3E7C0DDB370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 amt="88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rcRect l="90425" t="27345" r="2500" b="65956"/>
          <a:stretch/>
        </p:blipFill>
        <p:spPr>
          <a:xfrm>
            <a:off x="10610098" y="617112"/>
            <a:ext cx="862642" cy="816694"/>
          </a:xfrm>
          <a:prstGeom prst="rect">
            <a:avLst/>
          </a:prstGeom>
          <a:effectLst/>
        </p:spPr>
      </p:pic>
      <p:pic>
        <p:nvPicPr>
          <p:cNvPr id="5" name="Tartalom helye 6" descr="Otthon egyszínű kitöltéssel">
            <a:hlinkClick r:id="rId7" action="ppaction://hlinksldjump"/>
            <a:extLst>
              <a:ext uri="{FF2B5EF4-FFF2-40B4-BE49-F238E27FC236}">
                <a16:creationId xmlns:a16="http://schemas.microsoft.com/office/drawing/2014/main" id="{E0F90933-AACD-F3C2-AB9B-A0702E9C68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84219" y="568259"/>
            <a:ext cx="914400" cy="914400"/>
          </a:xfrm>
          <a:prstGeom prst="rect">
            <a:avLst/>
          </a:prstGeom>
        </p:spPr>
      </p:pic>
      <p:sp>
        <p:nvSpPr>
          <p:cNvPr id="8" name="Szövegdoboz 7">
            <a:hlinkClick r:id="rId2" action="ppaction://hlinksldjump"/>
            <a:extLst>
              <a:ext uri="{FF2B5EF4-FFF2-40B4-BE49-F238E27FC236}">
                <a16:creationId xmlns:a16="http://schemas.microsoft.com/office/drawing/2014/main" id="{EDCE4277-9423-C28A-93C4-1EFC4B31A238}"/>
              </a:ext>
            </a:extLst>
          </p:cNvPr>
          <p:cNvSpPr txBox="1"/>
          <p:nvPr/>
        </p:nvSpPr>
        <p:spPr>
          <a:xfrm>
            <a:off x="693381" y="612407"/>
            <a:ext cx="59264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4800" b="1" dirty="0">
                <a:solidFill>
                  <a:schemeClr val="bg1"/>
                </a:solidFill>
                <a:latin typeface="Arial Black" panose="020B0A04020102020204" pitchFamily="34" charset="0"/>
                <a:ea typeface="Adobe Gothic Std B" panose="020B0800000000000000" pitchFamily="34" charset="-128"/>
              </a:rPr>
              <a:t>Település típusai</a:t>
            </a:r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26873ACE-2D80-04CB-CF8D-83596A2A29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9085" y="2842895"/>
            <a:ext cx="6168390" cy="274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0474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</Words>
  <Application>Microsoft Office PowerPoint</Application>
  <PresentationFormat>Szélesvásznú</PresentationFormat>
  <Paragraphs>18</Paragraphs>
  <Slides>8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9" baseType="lpstr">
      <vt:lpstr>Office-téma</vt:lpstr>
      <vt:lpstr>Magyarország népessége 2025 népszámlálás szerint</vt:lpstr>
      <vt:lpstr>Népesség 2025</vt:lpstr>
      <vt:lpstr> </vt:lpstr>
      <vt:lpstr> </vt:lpstr>
      <vt:lpstr> 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Magyarország népessége 2025 népszámlálás szerint</dc:title>
  <dc:creator>Csiha Milán</dc:creator>
  <cp:lastModifiedBy>Csiha Milán</cp:lastModifiedBy>
  <cp:revision>83</cp:revision>
  <dcterms:created xsi:type="dcterms:W3CDTF">2026-09-11T07:43:40Z</dcterms:created>
  <dcterms:modified xsi:type="dcterms:W3CDTF">2026-09-17T21:34:52Z</dcterms:modified>
</cp:coreProperties>
</file>